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D4403C-C153-017D-F704-90EE30C6D894}" v="143" dt="2025-11-22T01:45:58.762"/>
    <p1510:client id="{4A66F08B-3595-CE5B-4A3A-68F1254FC36F}" v="527" dt="2025-11-22T01:11:59.680"/>
    <p1510:client id="{6EF82D8C-7511-85DC-D72B-B607AAAF1444}" v="267" dt="2025-11-22T02:29:06.259"/>
    <p1510:client id="{89849A99-C63E-4FE7-6B7C-BCC777743E2E}" v="19" dt="2025-11-20T14:55:36.153"/>
    <p1510:client id="{93515EAF-DDD5-000C-D558-C7C688619B64}" v="15" dt="2025-11-20T03:08:12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60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59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09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22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415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710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8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702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8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04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884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87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opinologo.com.br/2018/12/estacio-e-denunciada-ao-mpt-por-demissoes-em-massa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21661" y="643467"/>
            <a:ext cx="8246230" cy="2391750"/>
          </a:xfrm>
        </p:spPr>
        <p:txBody>
          <a:bodyPr>
            <a:normAutofit/>
          </a:bodyPr>
          <a:lstStyle/>
          <a:p>
            <a:pPr algn="l"/>
            <a:r>
              <a:rPr lang="de-DE" sz="4400" dirty="0">
                <a:solidFill>
                  <a:srgbClr val="000000"/>
                </a:solidFill>
              </a:rPr>
              <a:t>📌</a:t>
            </a:r>
            <a:r>
              <a:rPr lang="de-DE" dirty="0"/>
              <a:t> </a:t>
            </a:r>
            <a:r>
              <a:rPr lang="de-DE" dirty="0" err="1"/>
              <a:t>Sistema</a:t>
            </a:r>
            <a:r>
              <a:rPr lang="de-DE" dirty="0"/>
              <a:t> </a:t>
            </a:r>
            <a:r>
              <a:rPr lang="de-DE" dirty="0" err="1"/>
              <a:t>Em</a:t>
            </a:r>
            <a:r>
              <a:rPr lang="de-DE" dirty="0"/>
              <a:t> Python </a:t>
            </a:r>
            <a:r>
              <a:rPr lang="de-DE" dirty="0" err="1"/>
              <a:t>Com</a:t>
            </a:r>
            <a:r>
              <a:rPr lang="de-DE" dirty="0"/>
              <a:t> Flat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81434" y="3815136"/>
            <a:ext cx="7164681" cy="2238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 dirty="0">
                <a:latin typeface="Bahnschrift"/>
                <a:ea typeface="+mn-lt"/>
                <a:cs typeface="+mn-lt"/>
              </a:rPr>
              <a:t>Projeto de Desenvolvimento – Gabriel Sales Sousa  </a:t>
            </a:r>
            <a:endParaRPr lang="pt-BR">
              <a:latin typeface="Bahnschrift"/>
              <a:ea typeface="+mn-lt"/>
              <a:cs typeface="+mn-lt"/>
            </a:endParaRPr>
          </a:p>
          <a:p>
            <a:pPr algn="l"/>
            <a:endParaRPr lang="de-DE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28EFED25-6B04-73AB-9938-E14C2535B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860" y="4772520"/>
            <a:ext cx="2312151" cy="1541455"/>
          </a:xfrm>
          <a:prstGeom prst="rect">
            <a:avLst/>
          </a:prstGeom>
        </p:spPr>
      </p:pic>
      <p:pic>
        <p:nvPicPr>
          <p:cNvPr id="5" name="Imagem 4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A1A48E55-0E4F-63CE-23F3-B38084565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7505" y="4766950"/>
            <a:ext cx="2145891" cy="145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0ABEC-F5E0-B612-42D6-95C2ABD0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92246" cy="1350143"/>
          </a:xfrm>
        </p:spPr>
        <p:txBody>
          <a:bodyPr/>
          <a:lstStyle/>
          <a:p>
            <a:r>
              <a:rPr lang="pt-BR" dirty="0">
                <a:ea typeface="+mj-lt"/>
                <a:cs typeface="+mj-lt"/>
              </a:rPr>
              <a:t>📊  </a:t>
            </a:r>
            <a:r>
              <a:rPr lang="pt-BR" sz="2800" dirty="0">
                <a:solidFill>
                  <a:schemeClr val="tx2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Sumário</a:t>
            </a:r>
            <a:r>
              <a:rPr lang="pt-BR" dirty="0">
                <a:solidFill>
                  <a:schemeClr val="tx2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 </a:t>
            </a:r>
            <a:endParaRPr lang="pt-BR" i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748BD0-2CC2-F663-3124-7EAAB0C9D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7665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📘 Introdução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🎯 Objetivos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🗂️ Estrutura do Projeto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🧠 Tecnologias Utilizadas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⚙️ Funcionalidades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🧱 Organização das Pastas e Códigos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🖼️ Prints das Telas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🛠️ Desenvolvimento e Etapas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✅ Conclusão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🙌 Créditos</a:t>
            </a:r>
            <a:endParaRPr lang="pt-BR">
              <a:latin typeface="Consolas"/>
            </a:endParaRP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pPr marL="514350" indent="-514350"/>
            <a:endParaRPr lang="pt-BR" dirty="0"/>
          </a:p>
          <a:p>
            <a:pPr marL="514350" indent="-51435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1126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2722C-B230-F45B-5CAE-806BC5C2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+mj-lt"/>
                <a:cs typeface="+mj-lt"/>
              </a:rPr>
              <a:t>📝 </a:t>
            </a:r>
            <a:r>
              <a:rPr lang="pt-BR" sz="3200" i="1" dirty="0">
                <a:latin typeface="Arial Rounded MT Bold"/>
                <a:ea typeface="+mj-lt"/>
                <a:cs typeface="+mj-lt"/>
              </a:rPr>
              <a:t>Fase 1 – Introdução</a:t>
            </a:r>
            <a:r>
              <a:rPr lang="pt-BR" i="1" dirty="0">
                <a:ea typeface="+mj-lt"/>
                <a:cs typeface="+mj-lt"/>
              </a:rPr>
              <a:t> </a:t>
            </a:r>
            <a:endParaRPr lang="pt-BR" i="1" dirty="0"/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3548A1-2130-6E6A-1C40-D65BDCE6D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11149" cy="38228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latin typeface="Consolas"/>
                <a:ea typeface="+mn-lt"/>
                <a:cs typeface="+mn-lt"/>
              </a:rPr>
              <a:t>O projeto </a:t>
            </a:r>
            <a:r>
              <a:rPr lang="pt-BR" b="1" dirty="0">
                <a:latin typeface="Consolas"/>
                <a:ea typeface="+mn-lt"/>
                <a:cs typeface="+mn-lt"/>
              </a:rPr>
              <a:t>Smart Café</a:t>
            </a:r>
            <a:r>
              <a:rPr lang="pt-BR" dirty="0">
                <a:latin typeface="Consolas"/>
                <a:ea typeface="+mn-lt"/>
                <a:cs typeface="+mn-lt"/>
              </a:rPr>
              <a:t> propõe a construção de um sistema digital para gerenciamento de uma cafeteria inteligente. Desenvolvido com </a:t>
            </a:r>
            <a:r>
              <a:rPr lang="pt-BR" b="1" dirty="0">
                <a:latin typeface="Consolas"/>
                <a:ea typeface="+mn-lt"/>
                <a:cs typeface="+mn-lt"/>
              </a:rPr>
              <a:t>Python</a:t>
            </a:r>
            <a:r>
              <a:rPr lang="pt-BR" dirty="0">
                <a:latin typeface="Consolas"/>
                <a:ea typeface="+mn-lt"/>
                <a:cs typeface="+mn-lt"/>
              </a:rPr>
              <a:t> e o framework </a:t>
            </a:r>
            <a:r>
              <a:rPr lang="pt-BR" b="1" dirty="0">
                <a:latin typeface="Consolas"/>
                <a:ea typeface="+mn-lt"/>
                <a:cs typeface="+mn-lt"/>
              </a:rPr>
              <a:t>Flat</a:t>
            </a:r>
            <a:r>
              <a:rPr lang="pt-BR" dirty="0">
                <a:latin typeface="Consolas"/>
                <a:ea typeface="+mn-lt"/>
                <a:cs typeface="+mn-lt"/>
              </a:rPr>
              <a:t>, o sistema simula funcionalidades reais como login, controle de permissões, exibição de produtos e navegação entre telas. Os dados são armazenados em arquivos </a:t>
            </a:r>
            <a:r>
              <a:rPr lang="pt-BR" b="1" dirty="0">
                <a:latin typeface="Consolas"/>
                <a:ea typeface="+mn-lt"/>
                <a:cs typeface="+mn-lt"/>
              </a:rPr>
              <a:t>JSON</a:t>
            </a:r>
            <a:r>
              <a:rPr lang="pt-BR" dirty="0">
                <a:latin typeface="Consolas"/>
                <a:ea typeface="+mn-lt"/>
                <a:cs typeface="+mn-lt"/>
              </a:rPr>
              <a:t>, ideal para protótipos, testes e aplicações acadêmicas.</a:t>
            </a:r>
            <a:endParaRPr lang="pt-BR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10398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953A0-21EA-01AF-5396-BB5F5ABB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latin typeface="Arial Rounded MT Bold"/>
                <a:ea typeface="+mj-lt"/>
                <a:cs typeface="+mj-lt"/>
              </a:rPr>
              <a:t>🎯</a:t>
            </a:r>
            <a:r>
              <a:rPr lang="pt-BR" sz="3200" dirty="0">
                <a:latin typeface="Arial Rounded MT Bold"/>
              </a:rPr>
              <a:t> </a:t>
            </a:r>
            <a:r>
              <a:rPr lang="pt-BR" sz="3200" i="1" dirty="0">
                <a:latin typeface="Arial Rounded MT Bold"/>
              </a:rPr>
              <a:t>Fase 2 – Objetivos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DC6D87-30F7-67E3-2BBA-565E65363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Criar um sistema funcional com interface gráfica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Implementar autenticação com validação de credenciais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Exibir produtos com imagens e atributos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Controlar permissões de acesso por tipo de usuário</a:t>
            </a:r>
            <a:endParaRPr lang="pt-BR">
              <a:latin typeface="Consolas"/>
            </a:endParaRPr>
          </a:p>
          <a:p>
            <a:pPr>
              <a:buFont typeface="Arial"/>
              <a:buChar char="•"/>
            </a:pPr>
            <a:r>
              <a:rPr lang="pt-BR" dirty="0">
                <a:latin typeface="Consolas"/>
                <a:ea typeface="+mn-lt"/>
                <a:cs typeface="+mn-lt"/>
              </a:rPr>
              <a:t>Demonstrar navegação fluida entre telas</a:t>
            </a:r>
            <a:endParaRPr lang="pt-BR">
              <a:latin typeface="Consolas"/>
            </a:endParaRPr>
          </a:p>
          <a:p>
            <a:pPr indent="0">
              <a:buNone/>
            </a:pPr>
            <a:endParaRPr lang="pt-BR" b="1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4717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5F8EC-52B3-4DA6-FDCF-701FC902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 fontScale="90000"/>
          </a:bodyPr>
          <a:lstStyle/>
          <a:p>
            <a:r>
              <a:rPr lang="pt-BR" dirty="0">
                <a:ea typeface="+mj-lt"/>
                <a:cs typeface="+mj-lt"/>
              </a:rPr>
              <a:t>🧱</a:t>
            </a:r>
            <a:r>
              <a:rPr lang="pt-BR" sz="3200" b="1" dirty="0">
                <a:latin typeface="Arial Rounded MT Bold"/>
                <a:ea typeface="+mj-lt"/>
                <a:cs typeface="+mj-lt"/>
              </a:rPr>
              <a:t>️ Fase 4 – Estrutura do Projeto</a:t>
            </a:r>
            <a:r>
              <a:rPr lang="pt-BR" i="1" dirty="0">
                <a:ea typeface="+mj-lt"/>
                <a:cs typeface="+mj-lt"/>
              </a:rPr>
              <a:t> </a:t>
            </a:r>
            <a:endParaRPr lang="pt-BR" dirty="0"/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0838B1-4863-6A36-6995-FE99914E5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" y="2026204"/>
            <a:ext cx="5923292" cy="412814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pt-BR" sz="1700" dirty="0">
                <a:latin typeface="Consolas"/>
                <a:cs typeface="Courier New"/>
              </a:rPr>
              <a:t>📁 Principais diretórios e funções</a:t>
            </a:r>
          </a:p>
          <a:p>
            <a:pPr>
              <a:buFont typeface="Arial"/>
              <a:buChar char="•"/>
            </a:pPr>
            <a:r>
              <a:rPr lang="pt-BR" sz="1700" dirty="0">
                <a:latin typeface="Consolas"/>
                <a:cs typeface="Courier New"/>
              </a:rPr>
              <a:t>app.py</a:t>
            </a:r>
            <a:r>
              <a:rPr lang="pt-BR" sz="1700" dirty="0">
                <a:latin typeface="Consolas"/>
                <a:ea typeface="+mn-lt"/>
                <a:cs typeface="+mn-lt"/>
              </a:rPr>
              <a:t> → Arquivo principal que inicia o sistema e gerencia o fluxo geral</a:t>
            </a:r>
            <a:endParaRPr lang="pt-BR" sz="1700" dirty="0">
              <a:latin typeface="Consolas"/>
              <a:cs typeface="Courier New"/>
            </a:endParaRPr>
          </a:p>
          <a:p>
            <a:pPr>
              <a:buFont typeface="Arial"/>
              <a:buChar char="•"/>
            </a:pPr>
            <a:r>
              <a:rPr lang="pt-BR" sz="1700" dirty="0">
                <a:latin typeface="Consolas"/>
                <a:cs typeface="Courier New"/>
              </a:rPr>
              <a:t>data/</a:t>
            </a:r>
            <a:r>
              <a:rPr lang="pt-BR" sz="1700" dirty="0">
                <a:latin typeface="Consolas"/>
                <a:ea typeface="+mn-lt"/>
                <a:cs typeface="+mn-lt"/>
              </a:rPr>
              <a:t> → Armazena os dados simulados em formato JSON (</a:t>
            </a:r>
            <a:r>
              <a:rPr lang="pt-BR" sz="1700" dirty="0">
                <a:latin typeface="Consolas"/>
                <a:cs typeface="Courier New"/>
              </a:rPr>
              <a:t>produto. JSON</a:t>
            </a:r>
            <a:r>
              <a:rPr lang="pt-BR" sz="1700" dirty="0">
                <a:latin typeface="Consolas"/>
                <a:ea typeface="+mn-lt"/>
                <a:cs typeface="+mn-lt"/>
              </a:rPr>
              <a:t>, </a:t>
            </a:r>
            <a:r>
              <a:rPr lang="pt-BR" sz="1700" dirty="0">
                <a:latin typeface="Consolas"/>
                <a:cs typeface="Courier New"/>
              </a:rPr>
              <a:t>usuario.json</a:t>
            </a:r>
            <a:r>
              <a:rPr lang="pt-BR" sz="1700" dirty="0">
                <a:latin typeface="Consolas"/>
                <a:ea typeface="+mn-lt"/>
                <a:cs typeface="+mn-lt"/>
              </a:rPr>
              <a:t>)</a:t>
            </a:r>
            <a:endParaRPr lang="pt-BR" sz="1700" dirty="0">
              <a:latin typeface="Consolas"/>
              <a:cs typeface="Courier New"/>
            </a:endParaRPr>
          </a:p>
          <a:p>
            <a:pPr>
              <a:buFont typeface="Arial"/>
              <a:buChar char="•"/>
            </a:pPr>
            <a:r>
              <a:rPr lang="pt-BR" sz="1700" dirty="0">
                <a:latin typeface="Consolas"/>
                <a:cs typeface="Courier New"/>
              </a:rPr>
              <a:t>models/</a:t>
            </a:r>
            <a:r>
              <a:rPr lang="pt-BR" sz="1700" dirty="0">
                <a:latin typeface="Consolas"/>
                <a:ea typeface="+mn-lt"/>
                <a:cs typeface="+mn-lt"/>
              </a:rPr>
              <a:t> → Define as classes que representam os objetos do sistema (Produto, Usuário)</a:t>
            </a:r>
            <a:endParaRPr lang="pt-BR" sz="1700" dirty="0">
              <a:latin typeface="Consolas"/>
              <a:cs typeface="Courier New"/>
            </a:endParaRPr>
          </a:p>
          <a:p>
            <a:pPr>
              <a:buFont typeface="Arial"/>
              <a:buChar char="•"/>
            </a:pPr>
            <a:r>
              <a:rPr lang="pt-BR" sz="1700" dirty="0">
                <a:latin typeface="Consolas"/>
                <a:cs typeface="Courier New"/>
              </a:rPr>
              <a:t>screens/</a:t>
            </a:r>
            <a:r>
              <a:rPr lang="pt-BR" sz="1700" dirty="0">
                <a:latin typeface="Consolas"/>
                <a:ea typeface="+mn-lt"/>
                <a:cs typeface="+mn-lt"/>
              </a:rPr>
              <a:t> → Contém as telas da interface gráfica (Login, Produto, Permissões, Sucesso)</a:t>
            </a:r>
            <a:endParaRPr lang="pt-BR" sz="1700" dirty="0">
              <a:latin typeface="Consolas"/>
              <a:cs typeface="Courier New"/>
            </a:endParaRPr>
          </a:p>
          <a:p>
            <a:pPr>
              <a:buFont typeface="Arial"/>
              <a:buChar char="•"/>
            </a:pPr>
            <a:r>
              <a:rPr lang="pt-BR" sz="1700" dirty="0">
                <a:latin typeface="Consolas"/>
                <a:cs typeface="Courier New"/>
              </a:rPr>
              <a:t>services/</a:t>
            </a:r>
            <a:r>
              <a:rPr lang="pt-BR" sz="1700" dirty="0">
                <a:latin typeface="Consolas"/>
                <a:ea typeface="+mn-lt"/>
                <a:cs typeface="+mn-lt"/>
              </a:rPr>
              <a:t> → Implementa a lógica de negócio (validação de login, busca de produto)</a:t>
            </a:r>
            <a:endParaRPr lang="pt-BR" sz="1700" dirty="0">
              <a:latin typeface="Consolas"/>
              <a:cs typeface="Courier New"/>
            </a:endParaRPr>
          </a:p>
          <a:p>
            <a:pPr>
              <a:buFont typeface="Arial"/>
              <a:buChar char="•"/>
            </a:pPr>
            <a:r>
              <a:rPr lang="pt-BR" sz="1700" dirty="0">
                <a:latin typeface="Consolas"/>
                <a:cs typeface="Courier New"/>
              </a:rPr>
              <a:t>static/</a:t>
            </a:r>
            <a:r>
              <a:rPr lang="pt-BR" sz="1700" dirty="0">
                <a:latin typeface="Consolas"/>
                <a:ea typeface="+mn-lt"/>
                <a:cs typeface="+mn-lt"/>
              </a:rPr>
              <a:t> → Imagens e recursos visuais utilizados na interface (</a:t>
            </a:r>
            <a:r>
              <a:rPr lang="pt-BR" sz="1700" dirty="0">
                <a:latin typeface="Consolas"/>
                <a:cs typeface="Courier New"/>
              </a:rPr>
              <a:t>logoempresa.jpg</a:t>
            </a:r>
            <a:r>
              <a:rPr lang="pt-BR" sz="1700" dirty="0">
                <a:latin typeface="Consolas"/>
                <a:ea typeface="+mn-lt"/>
                <a:cs typeface="+mn-lt"/>
              </a:rPr>
              <a:t>, </a:t>
            </a:r>
            <a:r>
              <a:rPr lang="pt-BR" sz="1700" dirty="0">
                <a:latin typeface="Consolas"/>
                <a:cs typeface="Courier New"/>
              </a:rPr>
              <a:t>cafeteria.jpg</a:t>
            </a:r>
            <a:r>
              <a:rPr lang="pt-BR" sz="1700" dirty="0">
                <a:latin typeface="Consolas"/>
                <a:ea typeface="+mn-lt"/>
                <a:cs typeface="+mn-lt"/>
              </a:rPr>
              <a:t>)</a:t>
            </a:r>
            <a:endParaRPr lang="pt-BR" sz="1700" dirty="0">
              <a:latin typeface="Consolas"/>
              <a:cs typeface="Courier New"/>
            </a:endParaRPr>
          </a:p>
          <a:p>
            <a:pPr>
              <a:buFont typeface="Arial"/>
              <a:buChar char="•"/>
            </a:pPr>
            <a:r>
              <a:rPr lang="pt-BR" sz="1700" dirty="0">
                <a:latin typeface="Consolas"/>
                <a:cs typeface="Courier New"/>
              </a:rPr>
              <a:t>utils/</a:t>
            </a:r>
            <a:r>
              <a:rPr lang="pt-BR" sz="1700" dirty="0">
                <a:latin typeface="Consolas"/>
                <a:ea typeface="+mn-lt"/>
                <a:cs typeface="+mn-lt"/>
              </a:rPr>
              <a:t> → Funções auxiliares como carregamento de arquivos JSON</a:t>
            </a:r>
            <a:endParaRPr lang="pt-BR" sz="1700" dirty="0">
              <a:latin typeface="Consolas"/>
              <a:cs typeface="Courier New"/>
            </a:endParaRPr>
          </a:p>
          <a:p>
            <a:pPr marL="0" indent="0">
              <a:buNone/>
            </a:pPr>
            <a:endParaRPr lang="pt-BR" sz="1100">
              <a:latin typeface="Consola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7274C4F-89BA-5BB9-2B72-91344B3B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902" y="200402"/>
            <a:ext cx="2613471" cy="548493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EF6517F-2E30-E6EF-B214-929EA6248550}"/>
              </a:ext>
            </a:extLst>
          </p:cNvPr>
          <p:cNvSpPr txBox="1"/>
          <p:nvPr/>
        </p:nvSpPr>
        <p:spPr>
          <a:xfrm>
            <a:off x="7632917" y="5811864"/>
            <a:ext cx="36472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Organização de Pastas - VSCode</a:t>
            </a:r>
          </a:p>
        </p:txBody>
      </p:sp>
    </p:spTree>
    <p:extLst>
      <p:ext uri="{BB962C8B-B14F-4D97-AF65-F5344CB8AC3E}">
        <p14:creationId xmlns:p14="http://schemas.microsoft.com/office/powerpoint/2010/main" val="407714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08749-8CCB-3E61-6457-8DD8A4129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 dirty="0">
                <a:latin typeface="Arial Rounded MT Bold"/>
                <a:ea typeface="+mj-lt"/>
                <a:cs typeface="+mj-lt"/>
              </a:rPr>
              <a:t>Fase 5 – 🧠 Tecnologias Utilizadas</a:t>
            </a:r>
            <a:endParaRPr lang="pt-BR" sz="3200" b="1">
              <a:latin typeface="Arial Rounded MT Bold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8F4A6D-E7AC-B660-DF73-974F7DAFC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7471" cy="17826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👨</a:t>
            </a:r>
            <a:r>
              <a:rPr lang="pt-BR" sz="1800" dirty="0">
                <a:ea typeface="+mn-lt"/>
                <a:cs typeface="+mn-lt"/>
              </a:rPr>
              <a:t>‍💻</a:t>
            </a:r>
            <a:r>
              <a:rPr lang="pt-BR" sz="1800" dirty="0"/>
              <a:t> </a:t>
            </a:r>
            <a:r>
              <a:rPr lang="pt-BR" sz="1800" b="1" dirty="0">
                <a:latin typeface="Arial Rounded MT Bold"/>
              </a:rPr>
              <a:t>Python</a:t>
            </a:r>
          </a:p>
          <a:p>
            <a:pPr marL="0" indent="0">
              <a:buNone/>
            </a:pPr>
            <a:r>
              <a:rPr lang="pt-BR" sz="1500" dirty="0">
                <a:latin typeface="Calibri"/>
                <a:ea typeface="+mn-lt"/>
                <a:cs typeface="+mn-lt"/>
              </a:rPr>
              <a:t>Linguagem de programação principal utilizada no projeto. Permite estruturar a lógica do sistema, criar classes como Produto e Usuário, manipular dados e controlar o fluxo entre telas. Sua sintaxe simples e poderosa facilita o desenvolvimento rápido e organizado de aplicações.</a:t>
            </a:r>
            <a:endParaRPr lang="pt-BR" sz="1500">
              <a:latin typeface="Calibri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F3E639C-91F7-4004-317A-F2CA3A5D4BAA}"/>
              </a:ext>
            </a:extLst>
          </p:cNvPr>
          <p:cNvSpPr txBox="1"/>
          <p:nvPr/>
        </p:nvSpPr>
        <p:spPr>
          <a:xfrm>
            <a:off x="839075" y="3605231"/>
            <a:ext cx="29890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 </a:t>
            </a:r>
            <a:r>
              <a:rPr lang="pt-BR" b="1" dirty="0">
                <a:latin typeface="Arial Rounded MT Bold"/>
                <a:ea typeface="+mn-lt"/>
                <a:cs typeface="+mn-lt"/>
              </a:rPr>
              <a:t>🎨</a:t>
            </a:r>
            <a:r>
              <a:rPr lang="pt-BR" b="1" dirty="0">
                <a:latin typeface="Arial Rounded MT Bold"/>
              </a:rPr>
              <a:t>Flat 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98897A-8911-9A50-1F4C-28577102A5E5}"/>
              </a:ext>
            </a:extLst>
          </p:cNvPr>
          <p:cNvSpPr txBox="1"/>
          <p:nvPr/>
        </p:nvSpPr>
        <p:spPr>
          <a:xfrm>
            <a:off x="841575" y="3937486"/>
            <a:ext cx="620907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500" dirty="0">
                <a:latin typeface="Calibri"/>
                <a:ea typeface="+mn-lt"/>
                <a:cs typeface="+mn-lt"/>
              </a:rPr>
              <a:t>Framework moderno para construção de interfaces gráficas com Python. Permite criar telas interativas e responsivas, como login, produto e permissões, sem precisar usar HTML, CSS ou Javascript. Ideal para protótipos, sistemas desktop e aplicações multiplataforma com visual profissional.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89D1C22-9209-41F8-0980-8193FC0F772B}"/>
              </a:ext>
            </a:extLst>
          </p:cNvPr>
          <p:cNvSpPr txBox="1"/>
          <p:nvPr/>
        </p:nvSpPr>
        <p:spPr>
          <a:xfrm>
            <a:off x="850323" y="4888424"/>
            <a:ext cx="321023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 b="1" dirty="0">
              <a:latin typeface="Arial Rounded MT Bold"/>
            </a:endParaRPr>
          </a:p>
          <a:p>
            <a:r>
              <a:rPr lang="pt-BR" b="1" dirty="0">
                <a:latin typeface="Arial Rounded MT Bold"/>
              </a:rPr>
              <a:t>📄 JSON</a:t>
            </a:r>
            <a:endParaRPr lang="pt-BR" dirty="0"/>
          </a:p>
          <a:p>
            <a:pPr algn="l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300A05-CD60-6006-7873-FAB0ADA40D18}"/>
              </a:ext>
            </a:extLst>
          </p:cNvPr>
          <p:cNvSpPr txBox="1"/>
          <p:nvPr/>
        </p:nvSpPr>
        <p:spPr>
          <a:xfrm>
            <a:off x="852823" y="5497940"/>
            <a:ext cx="4353232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500" dirty="0">
                <a:latin typeface="Calibri"/>
                <a:ea typeface="+mn-lt"/>
                <a:cs typeface="+mn-lt"/>
              </a:rPr>
              <a:t>Formato leve e legível para armazenamento de dados em chave-valor. Utilizado para guardar informações de usuários e produtos em arquivos locais.</a:t>
            </a:r>
            <a:endParaRPr lang="pt-BR" sz="1500">
              <a:latin typeface="Calibri"/>
              <a:ea typeface="Calibri"/>
              <a:cs typeface="Calibri"/>
            </a:endParaRPr>
          </a:p>
        </p:txBody>
      </p:sp>
      <p:pic>
        <p:nvPicPr>
          <p:cNvPr id="8" name="Imagem 7" descr="Flat illustration of a laptop computer with the Python logo displayed on its screen. Minimalist style, clean lines, modern design, no extra elements.">
            <a:extLst>
              <a:ext uri="{FF2B5EF4-FFF2-40B4-BE49-F238E27FC236}">
                <a16:creationId xmlns:a16="http://schemas.microsoft.com/office/drawing/2014/main" id="{0DAA03F1-6D87-59EB-21DC-DFFB0E1C3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329" y="1710813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3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96C3B-4499-F5FC-17C9-663E2D8A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Arial Rounded MT Bold"/>
                <a:ea typeface="+mj-lt"/>
                <a:cs typeface="+mj-lt"/>
              </a:rPr>
              <a:t>Fase 6 – ⚙️ Funcionalidades</a:t>
            </a:r>
            <a:endParaRPr lang="pt-BR" sz="3200">
              <a:latin typeface="Arial Rounded MT Bold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88A6A-80FC-8B2E-0E34-26DA243B4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🔐 </a:t>
            </a:r>
            <a:r>
              <a:rPr lang="pt-BR" dirty="0">
                <a:latin typeface="Consolas"/>
                <a:ea typeface="+mn-lt"/>
                <a:cs typeface="+mn-lt"/>
              </a:rPr>
              <a:t>Autenticação com validação de login</a:t>
            </a:r>
            <a:endParaRPr lang="pt-BR">
              <a:latin typeface="Consolas"/>
            </a:endParaRPr>
          </a:p>
          <a:p>
            <a:r>
              <a:rPr lang="pt-BR" dirty="0">
                <a:latin typeface="Consolas"/>
                <a:ea typeface="+mn-lt"/>
                <a:cs typeface="+mn-lt"/>
              </a:rPr>
              <a:t>📦 Exibição de produtos com imagens e detalhes</a:t>
            </a:r>
            <a:endParaRPr lang="pt-BR">
              <a:latin typeface="Consolas"/>
            </a:endParaRPr>
          </a:p>
          <a:p>
            <a:r>
              <a:rPr lang="pt-BR" dirty="0">
                <a:latin typeface="Consolas"/>
                <a:ea typeface="+mn-lt"/>
                <a:cs typeface="+mn-lt"/>
              </a:rPr>
              <a:t>👤 Controle de permissões por tipo de usuário</a:t>
            </a:r>
            <a:endParaRPr lang="pt-BR">
              <a:latin typeface="Consolas"/>
            </a:endParaRPr>
          </a:p>
          <a:p>
            <a:r>
              <a:rPr lang="pt-BR" dirty="0">
                <a:latin typeface="Consolas"/>
                <a:ea typeface="+mn-lt"/>
                <a:cs typeface="+mn-lt"/>
              </a:rPr>
              <a:t>🧭 Navegação entre telas com gerenciamento de fluxo</a:t>
            </a:r>
            <a:endParaRPr lang="pt-BR">
              <a:latin typeface="Consolas"/>
            </a:endParaRPr>
          </a:p>
          <a:p>
            <a:r>
              <a:rPr lang="pt-BR" dirty="0">
                <a:latin typeface="Consolas"/>
                <a:ea typeface="+mn-lt"/>
                <a:cs typeface="+mn-lt"/>
              </a:rPr>
              <a:t>📁 Persistência de dados via arquivos JSON</a:t>
            </a:r>
            <a:endParaRPr lang="pt-BR">
              <a:latin typeface="Consolas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9852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1ABCE-9A78-2A2F-7AD6-1B55811C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 dirty="0">
                <a:latin typeface="Arial Rounded MT Bold"/>
                <a:ea typeface="+mj-lt"/>
                <a:cs typeface="+mj-lt"/>
              </a:rPr>
              <a:t>Fase 7 - </a:t>
            </a:r>
            <a:r>
              <a:rPr lang="pt-BR" sz="3200" dirty="0">
                <a:ea typeface="+mj-lt"/>
                <a:cs typeface="+mj-lt"/>
              </a:rPr>
              <a:t>🖼️ Prints das Telas</a:t>
            </a:r>
            <a:endParaRPr lang="pt-BR" sz="3200" b="1" dirty="0">
              <a:latin typeface="Arial Rounded MT Bold"/>
            </a:endParaRP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3961DA3A-8223-6BCC-519E-8DE98DF7E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200" y="1574906"/>
            <a:ext cx="3561159" cy="314085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17B2E3D-35D4-455B-794D-1EB995709AFE}"/>
              </a:ext>
            </a:extLst>
          </p:cNvPr>
          <p:cNvSpPr txBox="1"/>
          <p:nvPr/>
        </p:nvSpPr>
        <p:spPr>
          <a:xfrm>
            <a:off x="840522" y="4714114"/>
            <a:ext cx="229750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/>
              <a:t> </a:t>
            </a:r>
            <a:r>
              <a:rPr lang="pt-BR" sz="1400" dirty="0">
                <a:latin typeface="Consolas"/>
              </a:rPr>
              <a:t>→ </a:t>
            </a:r>
            <a:r>
              <a:rPr lang="pt-BR" sz="1400" dirty="0">
                <a:solidFill>
                  <a:schemeClr val="accent3"/>
                </a:solidFill>
                <a:latin typeface="Consolas"/>
              </a:rPr>
              <a:t>l</a:t>
            </a:r>
            <a:r>
              <a:rPr lang="pt-BR" sz="1400" dirty="0">
                <a:solidFill>
                  <a:schemeClr val="accent3"/>
                </a:solidFill>
                <a:latin typeface="Aptos"/>
              </a:rPr>
              <a:t>ogin</a:t>
            </a:r>
            <a:r>
              <a:rPr lang="pt-BR" sz="1400" dirty="0">
                <a:solidFill>
                  <a:schemeClr val="accent3"/>
                </a:solidFill>
              </a:rPr>
              <a:t>_screen.py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ED1532ED-C77D-4FA4-3CEC-8597567F3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939" y="1574499"/>
            <a:ext cx="4213107" cy="314828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0D390A6-83F1-A0AA-9669-7894E30499D8}"/>
              </a:ext>
            </a:extLst>
          </p:cNvPr>
          <p:cNvSpPr txBox="1"/>
          <p:nvPr/>
        </p:nvSpPr>
        <p:spPr>
          <a:xfrm>
            <a:off x="4594434" y="4727148"/>
            <a:ext cx="293010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/>
              </a:rPr>
              <a:t>→ produto</a:t>
            </a:r>
            <a:r>
              <a:rPr lang="pt-BR" sz="1400" dirty="0">
                <a:solidFill>
                  <a:schemeClr val="accent3"/>
                </a:solidFill>
              </a:rPr>
              <a:t>_screen.py</a:t>
            </a:r>
            <a:endParaRPr lang="pt-BR" sz="1400">
              <a:solidFill>
                <a:schemeClr val="accent3"/>
              </a:solidFill>
            </a:endParaRPr>
          </a:p>
          <a:p>
            <a:pPr algn="l"/>
            <a:endParaRPr lang="pt-BR" dirty="0"/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C4ECEF12-609F-22EC-2EEA-875760DF8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570" y="1574860"/>
            <a:ext cx="3879012" cy="3147563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0B93318-3B35-DD0E-23F0-73960492DC07}"/>
              </a:ext>
            </a:extLst>
          </p:cNvPr>
          <p:cNvSpPr txBox="1"/>
          <p:nvPr/>
        </p:nvSpPr>
        <p:spPr>
          <a:xfrm>
            <a:off x="8482947" y="472189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accent3"/>
                </a:solidFill>
              </a:rPr>
              <a:t> </a:t>
            </a:r>
            <a:r>
              <a:rPr lang="pt-BR" sz="1400">
                <a:solidFill>
                  <a:srgbClr val="000000"/>
                </a:solidFill>
                <a:latin typeface="Consolas"/>
              </a:rPr>
              <a:t>→ </a:t>
            </a:r>
            <a:r>
              <a:rPr lang="pt-BR">
                <a:solidFill>
                  <a:schemeClr val="accent3"/>
                </a:solidFill>
              </a:rPr>
              <a:t>permissões_screen.py</a:t>
            </a:r>
          </a:p>
        </p:txBody>
      </p:sp>
    </p:spTree>
    <p:extLst>
      <p:ext uri="{BB962C8B-B14F-4D97-AF65-F5344CB8AC3E}">
        <p14:creationId xmlns:p14="http://schemas.microsoft.com/office/powerpoint/2010/main" val="3935499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2F3DF-B08C-0F36-981A-C42DD074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+mj-lt"/>
                <a:cs typeface="+mj-lt"/>
              </a:rPr>
              <a:t>Fase 8 - 🛠️ </a:t>
            </a:r>
            <a:r>
              <a:rPr lang="pt-BR" sz="3200" dirty="0">
                <a:latin typeface="Arial Rounded MT Bold"/>
                <a:ea typeface="+mj-lt"/>
                <a:cs typeface="+mj-lt"/>
              </a:rPr>
              <a:t>Desenvolvimento e Etapas</a:t>
            </a:r>
            <a:endParaRPr lang="pt-BR" sz="3200">
              <a:latin typeface="Arial Rounded MT Bold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37630F-596F-2BB0-AD04-FE105B093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latin typeface="Consolas"/>
                <a:ea typeface="+mn-lt"/>
                <a:cs typeface="+mn-lt"/>
              </a:rPr>
              <a:t>Estruturação das pastas e arquivos</a:t>
            </a:r>
            <a:endParaRPr lang="pt-BR">
              <a:latin typeface="Consolas"/>
            </a:endParaRPr>
          </a:p>
          <a:p>
            <a:r>
              <a:rPr lang="pt-BR" dirty="0">
                <a:latin typeface="Consolas"/>
                <a:ea typeface="+mn-lt"/>
                <a:cs typeface="+mn-lt"/>
              </a:rPr>
              <a:t>Criação das classes de modelo (</a:t>
            </a:r>
            <a:r>
              <a:rPr lang="pt-BR" dirty="0">
                <a:latin typeface="Consolas"/>
              </a:rPr>
              <a:t>models/</a:t>
            </a:r>
            <a:r>
              <a:rPr lang="pt-BR" dirty="0">
                <a:latin typeface="Consolas"/>
                <a:ea typeface="+mn-lt"/>
                <a:cs typeface="+mn-lt"/>
              </a:rPr>
              <a:t>)</a:t>
            </a:r>
            <a:endParaRPr lang="pt-BR">
              <a:latin typeface="Consolas"/>
            </a:endParaRPr>
          </a:p>
          <a:p>
            <a:r>
              <a:rPr lang="pt-BR" dirty="0">
                <a:latin typeface="Consolas"/>
                <a:ea typeface="+mn-lt"/>
                <a:cs typeface="+mn-lt"/>
              </a:rPr>
              <a:t>Desenvolvimento das telas (</a:t>
            </a:r>
            <a:r>
              <a:rPr lang="pt-BR" dirty="0">
                <a:latin typeface="Consolas"/>
              </a:rPr>
              <a:t>screens/</a:t>
            </a:r>
            <a:r>
              <a:rPr lang="pt-BR" dirty="0">
                <a:latin typeface="Consolas"/>
                <a:ea typeface="+mn-lt"/>
                <a:cs typeface="+mn-lt"/>
              </a:rPr>
              <a:t>)</a:t>
            </a:r>
            <a:endParaRPr lang="pt-BR">
              <a:latin typeface="Consolas"/>
            </a:endParaRPr>
          </a:p>
          <a:p>
            <a:r>
              <a:rPr lang="pt-BR" dirty="0">
                <a:latin typeface="Consolas"/>
                <a:ea typeface="+mn-lt"/>
                <a:cs typeface="+mn-lt"/>
              </a:rPr>
              <a:t>Implementação dos serviços (</a:t>
            </a:r>
            <a:r>
              <a:rPr lang="pt-BR" dirty="0">
                <a:latin typeface="Consolas"/>
              </a:rPr>
              <a:t>services/</a:t>
            </a:r>
            <a:r>
              <a:rPr lang="pt-BR" dirty="0">
                <a:latin typeface="Consolas"/>
                <a:ea typeface="+mn-lt"/>
                <a:cs typeface="+mn-lt"/>
              </a:rPr>
              <a:t>)</a:t>
            </a:r>
            <a:endParaRPr lang="pt-BR">
              <a:latin typeface="Consolas"/>
            </a:endParaRPr>
          </a:p>
          <a:p>
            <a:r>
              <a:rPr lang="pt-BR" dirty="0">
                <a:latin typeface="Consolas"/>
                <a:ea typeface="+mn-lt"/>
                <a:cs typeface="+mn-lt"/>
              </a:rPr>
              <a:t>Integração com arquivos JSON (</a:t>
            </a:r>
            <a:r>
              <a:rPr lang="pt-BR" dirty="0">
                <a:latin typeface="Consolas"/>
              </a:rPr>
              <a:t>data/</a:t>
            </a:r>
            <a:r>
              <a:rPr lang="pt-BR" dirty="0">
                <a:latin typeface="Consolas"/>
                <a:ea typeface="+mn-lt"/>
                <a:cs typeface="+mn-lt"/>
              </a:rPr>
              <a:t> e </a:t>
            </a:r>
            <a:r>
              <a:rPr lang="pt-BR" dirty="0">
                <a:latin typeface="Consolas"/>
              </a:rPr>
              <a:t>utils/</a:t>
            </a:r>
            <a:r>
              <a:rPr lang="pt-BR" dirty="0">
                <a:latin typeface="Consolas"/>
                <a:ea typeface="+mn-lt"/>
                <a:cs typeface="+mn-lt"/>
              </a:rPr>
              <a:t>)</a:t>
            </a:r>
            <a:endParaRPr lang="pt-BR">
              <a:latin typeface="Consolas"/>
            </a:endParaRPr>
          </a:p>
          <a:p>
            <a:r>
              <a:rPr lang="pt-BR" dirty="0">
                <a:latin typeface="Consolas"/>
                <a:ea typeface="+mn-lt"/>
                <a:cs typeface="+mn-lt"/>
              </a:rPr>
              <a:t>Testes, ajustes e refinamento final</a:t>
            </a:r>
            <a:endParaRPr lang="pt-BR">
              <a:latin typeface="Consolas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5381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11C53-017A-A321-5D42-2E1B57FCD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Arial Rounded MT Bold"/>
                <a:ea typeface="+mj-lt"/>
                <a:cs typeface="+mj-lt"/>
              </a:rPr>
              <a:t>✅ Conclusão</a:t>
            </a:r>
            <a:endParaRPr lang="pt-BR" sz="3200">
              <a:latin typeface="Arial Rounded MT Bold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A247AE-6983-C1CE-F52A-3888BF0F5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latin typeface="Consolas"/>
                <a:ea typeface="+mn-lt"/>
                <a:cs typeface="+mn-lt"/>
              </a:rPr>
              <a:t>O projeto </a:t>
            </a:r>
            <a:r>
              <a:rPr lang="pt-BR" b="1" err="1">
                <a:latin typeface="Consolas"/>
                <a:ea typeface="+mn-lt"/>
                <a:cs typeface="+mn-lt"/>
              </a:rPr>
              <a:t>Smart</a:t>
            </a:r>
            <a:r>
              <a:rPr lang="pt-BR" b="1" dirty="0">
                <a:latin typeface="Consolas"/>
                <a:ea typeface="+mn-lt"/>
                <a:cs typeface="+mn-lt"/>
              </a:rPr>
              <a:t> Café</a:t>
            </a:r>
            <a:r>
              <a:rPr lang="pt-BR" dirty="0">
                <a:latin typeface="Consolas"/>
                <a:ea typeface="+mn-lt"/>
                <a:cs typeface="+mn-lt"/>
              </a:rPr>
              <a:t> cumpre os objetivos propostos, demonstrando a viabilidade de um sistema modular e funcional com Python e </a:t>
            </a:r>
            <a:r>
              <a:rPr lang="pt-BR" err="1">
                <a:latin typeface="Consolas"/>
                <a:ea typeface="+mn-lt"/>
                <a:cs typeface="+mn-lt"/>
              </a:rPr>
              <a:t>Flet</a:t>
            </a:r>
            <a:r>
              <a:rPr lang="pt-BR" dirty="0">
                <a:latin typeface="Consolas"/>
                <a:ea typeface="+mn-lt"/>
                <a:cs typeface="+mn-lt"/>
              </a:rPr>
              <a:t>. A estrutura organizada permite fácil manutenção e expansão futura, como integração com banco de dados, autenticação avançada ou novos módulos.</a:t>
            </a:r>
            <a:endParaRPr lang="pt-BR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7114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E6FF0-40E6-FFB3-EFBA-DAF99D4B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+mj-lt"/>
                <a:cs typeface="+mj-lt"/>
              </a:rPr>
              <a:t>🙌 </a:t>
            </a:r>
            <a:r>
              <a:rPr lang="pt-BR" sz="3200" dirty="0">
                <a:latin typeface="Arial Rounded MT Bold"/>
                <a:ea typeface="+mj-lt"/>
                <a:cs typeface="+mj-lt"/>
              </a:rPr>
              <a:t>Créditos</a:t>
            </a:r>
            <a:endParaRPr lang="pt-BR" sz="3200">
              <a:latin typeface="Arial Rounded MT Bold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617529-6924-3917-6807-978C0456C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b="1" dirty="0">
                <a:ea typeface="+mn-lt"/>
                <a:cs typeface="+mn-lt"/>
              </a:rPr>
              <a:t>👨‍💻 </a:t>
            </a:r>
            <a:r>
              <a:rPr lang="pt-BR" b="1" dirty="0">
                <a:latin typeface="Consolas"/>
                <a:ea typeface="+mn-lt"/>
                <a:cs typeface="+mn-lt"/>
              </a:rPr>
              <a:t>Desenvolvedor:</a:t>
            </a:r>
            <a:r>
              <a:rPr lang="pt-BR" dirty="0">
                <a:latin typeface="Consolas"/>
                <a:ea typeface="+mn-lt"/>
                <a:cs typeface="+mn-lt"/>
              </a:rPr>
              <a:t> Gabriel Sales </a:t>
            </a:r>
            <a:endParaRPr lang="pt-BR">
              <a:latin typeface="Consolas"/>
            </a:endParaRPr>
          </a:p>
          <a:p>
            <a:pPr marL="0" indent="0">
              <a:buNone/>
            </a:pPr>
            <a:r>
              <a:rPr lang="pt-BR" b="1" dirty="0">
                <a:latin typeface="Consolas"/>
                <a:ea typeface="+mn-lt"/>
                <a:cs typeface="+mn-lt"/>
              </a:rPr>
              <a:t>🎓 Curso:</a:t>
            </a:r>
            <a:r>
              <a:rPr lang="pt-BR" dirty="0">
                <a:latin typeface="Consolas"/>
                <a:ea typeface="+mn-lt"/>
                <a:cs typeface="+mn-lt"/>
              </a:rPr>
              <a:t> Estácio – Python com Flat</a:t>
            </a:r>
          </a:p>
          <a:p>
            <a:pPr marL="0" indent="0">
              <a:buNone/>
            </a:pPr>
            <a:r>
              <a:rPr lang="pt-BR" b="1" dirty="0">
                <a:latin typeface="Consolas"/>
                <a:ea typeface="+mn-lt"/>
                <a:cs typeface="+mn-lt"/>
              </a:rPr>
              <a:t>🏢 Projeto:</a:t>
            </a:r>
            <a:r>
              <a:rPr lang="pt-BR" dirty="0">
                <a:latin typeface="Consolas"/>
                <a:ea typeface="+mn-lt"/>
                <a:cs typeface="+mn-lt"/>
              </a:rPr>
              <a:t> Simulação de sistema para gestão de cafeteria inteligente</a:t>
            </a:r>
            <a:endParaRPr lang="pt-BR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56157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📌 Sistema Em Python Com Flat</vt:lpstr>
      <vt:lpstr>📊  Sumário </vt:lpstr>
      <vt:lpstr>📝 Fase 1 – Introdução  </vt:lpstr>
      <vt:lpstr>🎯 Fase 2 – Objetivos </vt:lpstr>
      <vt:lpstr>🧱️ Fase 4 – Estrutura do Projeto  </vt:lpstr>
      <vt:lpstr>Fase 5 – 🧠 Tecnologias Utilizadas</vt:lpstr>
      <vt:lpstr>Fase 6 – ⚙️ Funcionalidades</vt:lpstr>
      <vt:lpstr>Fase 7 - 🖼️ Prints das Telas</vt:lpstr>
      <vt:lpstr>Fase 8 - 🛠️ Desenvolvimento e Etapas</vt:lpstr>
      <vt:lpstr>✅ Conclusão</vt:lpstr>
      <vt:lpstr>🙌 Créditos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520</cp:revision>
  <dcterms:created xsi:type="dcterms:W3CDTF">2025-11-15T19:05:15Z</dcterms:created>
  <dcterms:modified xsi:type="dcterms:W3CDTF">2025-11-22T02:35:40Z</dcterms:modified>
</cp:coreProperties>
</file>